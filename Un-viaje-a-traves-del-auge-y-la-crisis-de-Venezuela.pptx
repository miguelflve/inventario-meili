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Inter" panose="02000503000000020004" pitchFamily="2" charset="0"/>
      <p:regular r:id="rId12"/>
      <p:bold r:id="rId13"/>
      <p:italic r:id="rId14"/>
      <p:boldItalic r:id="rId15"/>
    </p:embeddedFont>
    <p:embeddedFont>
      <p:font typeface="Inter Bold" panose="02000503000000020004" pitchFamily="2" charset="0"/>
      <p:bold r:id="rId16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47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66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6947" y="934879"/>
            <a:ext cx="10513338" cy="546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viaje a través del auge y la crisis de Venezuela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86947" y="1750100"/>
            <a:ext cx="12056388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Venezuela es una historia de contrastes. Es la historia de un país que encontró en el petróleo su mayor fortaleza… y también su mayor vulnerabilidad.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país que vivió bonanzas económicas extraordinarias y, al mismo tiempo, sembró las bases de una dependencia que lo haría frágil ante cualquier cambio.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6947" y="2891552"/>
            <a:ext cx="12056388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 largo de las décadas, decisiones políticas, modelos económicos y transformaciones sociales fueron moldeando un camino que parecía estable… hasta que dejó de serlo.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354" y="3537942"/>
            <a:ext cx="6683454" cy="375666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1469713-3D6F-A0C2-DA7B-BC341C32D841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811" y="605552"/>
            <a:ext cx="8839676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Bonanza Petrolera: 1960-1970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1" y="1854875"/>
            <a:ext cx="8319611" cy="5546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5252" y="1972508"/>
            <a:ext cx="3303508" cy="41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Auge del Crudo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635252" y="2599134"/>
            <a:ext cx="4231838" cy="24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Durante estas décadas, Venezuela se convirtió en uno de los países más prósperos de América Latina gracias a sus exportaciones petroleras. El gobierno utilizó los ingresos para modernizar la infraestructura, construir carreteras, escuelas y hospitales.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5252" y="5221843"/>
            <a:ext cx="4231838" cy="208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embargo, esta bonanza ocultó un problema fundamental: la economía se volvió completamente dependiente del petróleo, descuidando otros sectores productivos como la agricultura y la industria.</a:t>
            </a:r>
            <a:endParaRPr lang="en-US" sz="17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4DE1E1-84FB-9806-AD60-34F629BDC8CC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103697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Comienzo del Deterioro: 1970-1998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16894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81689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074188"/>
            <a:ext cx="4029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1973: Primera crisis petrolera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564606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OPEP aumenta los precios del petróleo. Venezuela experimenta un segundo boom económico que agrava la dependencia.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1816894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181689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074188"/>
            <a:ext cx="3670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1983: La Gran Devaluación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564606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Venezuela declara la "Viernes Negro", cuando la moneda pierde valor rápidamente y comienza una crisis económica profunda.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137422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13742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3947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1989: El Caracazo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88513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Protestas masivas contra reformas económicas resultan en violentos enfrentamientos con mas de 300 muertos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137422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13742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394716"/>
            <a:ext cx="37291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1994-1996: Crisis bancaria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885134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colapso del sistema bancario destruye ahorros y profundiza la crisis económica y la desigualdad.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48628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Estas décadas mostraron las consecuencias de décadas de dependencia petrolera. Los precios volátiles del crudo causaron ciclos de bonanza y crisis. La corrupción institucionalizada y la mala gestión económica llevaron a un descontento creciente que culminó en el ascenso de Hugo Chávez en 1998.</a:t>
            </a:r>
            <a:endParaRPr lang="en-US" sz="175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84DC631-18FE-BC49-0D21-194D79CBB6D1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08BDE9DC-B225-D5D4-220E-49EEEECF290D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65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909" y="1069538"/>
            <a:ext cx="5468660" cy="54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Era Chávez: 1998-2013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5909" y="1663184"/>
            <a:ext cx="259687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Llegada al Poder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5909" y="2185868"/>
            <a:ext cx="9760982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1998, Hugo Chávez ganó las elecciones presidenciales prometiendo una revolución socialista que redistribuiría la riqueza petrolera. Implementó políticas populistas financiadas por los altos precios del petróleo de los 2000.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5909" y="2822853"/>
            <a:ext cx="9760982" cy="1115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Nacionalización de industrias petroleras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sociales (Misiones) para combatir pobreza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estatal de medios y empresas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Alianzas con países anti-Estados Unidos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5909" y="4173379"/>
            <a:ext cx="9760982" cy="57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4404360" y="4930259"/>
            <a:ext cx="2164080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Años en el poder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5909" y="5279946"/>
            <a:ext cx="9760982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1998 hasta su muerte en 2013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5909" y="5802511"/>
            <a:ext cx="9760982" cy="22860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1338977" y="5802451"/>
            <a:ext cx="22860" cy="346234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12" name="Shape 9"/>
          <p:cNvSpPr/>
          <p:nvPr/>
        </p:nvSpPr>
        <p:spPr>
          <a:xfrm>
            <a:off x="1285518" y="5737562"/>
            <a:ext cx="129778" cy="129778"/>
          </a:xfrm>
          <a:prstGeom prst="roundRect">
            <a:avLst>
              <a:gd name="adj" fmla="val 352294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779026" y="6321862"/>
            <a:ext cx="11428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1998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79026" y="6671548"/>
            <a:ext cx="1142881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Elección de Chávez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993350" y="5802451"/>
            <a:ext cx="22860" cy="346234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16" name="Shape 13"/>
          <p:cNvSpPr/>
          <p:nvPr/>
        </p:nvSpPr>
        <p:spPr>
          <a:xfrm>
            <a:off x="2939891" y="5737562"/>
            <a:ext cx="129778" cy="129778"/>
          </a:xfrm>
          <a:prstGeom prst="roundRect">
            <a:avLst>
              <a:gd name="adj" fmla="val 352294"/>
            </a:avLst>
          </a:prstGeom>
          <a:solidFill>
            <a:srgbClr val="4950BC"/>
          </a:solidFill>
          <a:ln/>
        </p:spPr>
      </p:sp>
      <p:sp>
        <p:nvSpPr>
          <p:cNvPr id="17" name="Text 14"/>
          <p:cNvSpPr/>
          <p:nvPr/>
        </p:nvSpPr>
        <p:spPr>
          <a:xfrm>
            <a:off x="2433280" y="6321862"/>
            <a:ext cx="1143000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1999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433280" y="6671548"/>
            <a:ext cx="1143000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constitución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47724" y="5802451"/>
            <a:ext cx="22860" cy="346234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20" name="Shape 17"/>
          <p:cNvSpPr/>
          <p:nvPr/>
        </p:nvSpPr>
        <p:spPr>
          <a:xfrm>
            <a:off x="4594265" y="5737562"/>
            <a:ext cx="129778" cy="129778"/>
          </a:xfrm>
          <a:prstGeom prst="roundRect">
            <a:avLst>
              <a:gd name="adj" fmla="val 352294"/>
            </a:avLst>
          </a:prstGeom>
          <a:solidFill>
            <a:srgbClr val="4950BC"/>
          </a:solidFill>
          <a:ln/>
        </p:spPr>
      </p:sp>
      <p:sp>
        <p:nvSpPr>
          <p:cNvPr id="21" name="Text 18"/>
          <p:cNvSpPr/>
          <p:nvPr/>
        </p:nvSpPr>
        <p:spPr>
          <a:xfrm>
            <a:off x="4087654" y="6321862"/>
            <a:ext cx="1143000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087654" y="6671548"/>
            <a:ext cx="1143000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Golpe corto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302097" y="5802451"/>
            <a:ext cx="22860" cy="346234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24" name="Shape 21"/>
          <p:cNvSpPr/>
          <p:nvPr/>
        </p:nvSpPr>
        <p:spPr>
          <a:xfrm>
            <a:off x="6248638" y="5737562"/>
            <a:ext cx="129778" cy="129778"/>
          </a:xfrm>
          <a:prstGeom prst="roundRect">
            <a:avLst>
              <a:gd name="adj" fmla="val 352294"/>
            </a:avLst>
          </a:prstGeom>
          <a:solidFill>
            <a:srgbClr val="4950BC"/>
          </a:solidFill>
          <a:ln/>
        </p:spPr>
      </p:sp>
      <p:sp>
        <p:nvSpPr>
          <p:cNvPr id="25" name="Text 22"/>
          <p:cNvSpPr/>
          <p:nvPr/>
        </p:nvSpPr>
        <p:spPr>
          <a:xfrm>
            <a:off x="5742027" y="6321862"/>
            <a:ext cx="1143000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2007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742027" y="6671548"/>
            <a:ext cx="1143000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Reelección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956471" y="5802451"/>
            <a:ext cx="22860" cy="346234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28" name="Shape 25"/>
          <p:cNvSpPr/>
          <p:nvPr/>
        </p:nvSpPr>
        <p:spPr>
          <a:xfrm>
            <a:off x="7903012" y="5737562"/>
            <a:ext cx="129778" cy="129778"/>
          </a:xfrm>
          <a:prstGeom prst="roundRect">
            <a:avLst>
              <a:gd name="adj" fmla="val 352294"/>
            </a:avLst>
          </a:prstGeom>
          <a:solidFill>
            <a:srgbClr val="4950BC"/>
          </a:solidFill>
          <a:ln/>
        </p:spPr>
      </p:sp>
      <p:sp>
        <p:nvSpPr>
          <p:cNvPr id="29" name="Text 26"/>
          <p:cNvSpPr/>
          <p:nvPr/>
        </p:nvSpPr>
        <p:spPr>
          <a:xfrm>
            <a:off x="7396401" y="6321862"/>
            <a:ext cx="1143000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2012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396401" y="6671548"/>
            <a:ext cx="1143000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 victoria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610725" y="5802451"/>
            <a:ext cx="22860" cy="346234"/>
          </a:xfrm>
          <a:prstGeom prst="roundRect">
            <a:avLst>
              <a:gd name="adj" fmla="val 318080"/>
            </a:avLst>
          </a:prstGeom>
          <a:solidFill>
            <a:srgbClr val="C0C1D7"/>
          </a:solidFill>
          <a:ln/>
        </p:spPr>
      </p:sp>
      <p:sp>
        <p:nvSpPr>
          <p:cNvPr id="32" name="Shape 29"/>
          <p:cNvSpPr/>
          <p:nvPr/>
        </p:nvSpPr>
        <p:spPr>
          <a:xfrm>
            <a:off x="9557266" y="5737562"/>
            <a:ext cx="129778" cy="129778"/>
          </a:xfrm>
          <a:prstGeom prst="roundRect">
            <a:avLst>
              <a:gd name="adj" fmla="val 352294"/>
            </a:avLst>
          </a:prstGeom>
          <a:solidFill>
            <a:srgbClr val="4950BC"/>
          </a:solidFill>
          <a:ln/>
        </p:spPr>
      </p:sp>
      <p:sp>
        <p:nvSpPr>
          <p:cNvPr id="33" name="Text 30"/>
          <p:cNvSpPr/>
          <p:nvPr/>
        </p:nvSpPr>
        <p:spPr>
          <a:xfrm>
            <a:off x="9050774" y="6321862"/>
            <a:ext cx="11428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2013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9050774" y="6671548"/>
            <a:ext cx="1142881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Muerte de Chávez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D249F7C-A22B-F4EC-8168-8F342F27874A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60456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898" y="1592342"/>
            <a:ext cx="6703933" cy="465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Problemas Estructurales: 2000-2013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898" y="2203847"/>
            <a:ext cx="372070" cy="372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0898" y="2697956"/>
            <a:ext cx="252007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Dependencia petrolera total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20898" y="2989064"/>
            <a:ext cx="810220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petróleo representaba más del 95% de las exportaciones. Cuando los precios cayeron después de 2014, la economía colapsó.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8" y="3578662"/>
            <a:ext cx="372070" cy="372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0898" y="4072771"/>
            <a:ext cx="229862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Colapso de la producción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520898" y="4363879"/>
            <a:ext cx="8102203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políticas de expropiación y control estatal destruyeron la capacidad productiva industrial y agrícola del país.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898" y="4756309"/>
            <a:ext cx="372070" cy="3720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0898" y="5250418"/>
            <a:ext cx="224778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Corrupción generalizada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520898" y="5541526"/>
            <a:ext cx="8102203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falta de transparencia y el control político del dinero petrolero generaron redes de corrupción masivas.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20898" y="5848469"/>
            <a:ext cx="8102203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Durante los años de Chávez, Venezuela desperdició una de las oportunidades más grandes de su historia. Los ingresos petroleros récord no se invirtieron en diversificar la economía o construir instituciones sólidas. En cambio, se financiaron programas populistas a corto plazo, se concentró el poder político y se erosionó el Estado de derecho.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23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2732" y="3145036"/>
            <a:ext cx="9619536" cy="58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Crisis Profunda: Maduro 2013-Presente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902732" y="3786664"/>
            <a:ext cx="3338632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Hiperinflación y Colapso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02732" y="4363522"/>
            <a:ext cx="12824817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Nicolás Maduro asumió la presidencia en 2013 tras la muerte de Chávez. La caída de los precios del petróleo en 2014 expuso las debilidades estructurales de la economía.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2732" y="5075873"/>
            <a:ext cx="12824817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gobierno respondió con más controles de precios, nacionalizaciones y expansión monetaria que provocaron la hiperinflación más grave fuera de una guerra en tiempos modernos.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02732" y="5927527"/>
            <a:ext cx="12824817" cy="22860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8" name="Shape 5"/>
          <p:cNvSpPr/>
          <p:nvPr/>
        </p:nvSpPr>
        <p:spPr>
          <a:xfrm>
            <a:off x="1880711" y="5927527"/>
            <a:ext cx="22860" cy="371713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9" name="Shape 6"/>
          <p:cNvSpPr/>
          <p:nvPr/>
        </p:nvSpPr>
        <p:spPr>
          <a:xfrm>
            <a:off x="1822490" y="5857875"/>
            <a:ext cx="139303" cy="139303"/>
          </a:xfrm>
          <a:prstGeom prst="roundRect">
            <a:avLst>
              <a:gd name="adj" fmla="val 328205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1088588" y="6485215"/>
            <a:ext cx="16071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88588" y="6866811"/>
            <a:ext cx="160710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Maduro sucede a Chávez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049792" y="5927527"/>
            <a:ext cx="22860" cy="371713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13" name="Shape 10"/>
          <p:cNvSpPr/>
          <p:nvPr/>
        </p:nvSpPr>
        <p:spPr>
          <a:xfrm>
            <a:off x="3991570" y="5857875"/>
            <a:ext cx="139303" cy="139303"/>
          </a:xfrm>
          <a:prstGeom prst="roundRect">
            <a:avLst>
              <a:gd name="adj" fmla="val 328205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257669" y="6485215"/>
            <a:ext cx="16072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57669" y="6866811"/>
            <a:ext cx="160722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Caída de precios del petróleo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218992" y="5927527"/>
            <a:ext cx="22860" cy="371713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17" name="Shape 14"/>
          <p:cNvSpPr/>
          <p:nvPr/>
        </p:nvSpPr>
        <p:spPr>
          <a:xfrm>
            <a:off x="6160770" y="5857875"/>
            <a:ext cx="139303" cy="139303"/>
          </a:xfrm>
          <a:prstGeom prst="roundRect">
            <a:avLst>
              <a:gd name="adj" fmla="val 328205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5426869" y="6485215"/>
            <a:ext cx="16072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26869" y="6866811"/>
            <a:ext cx="160722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Recesión profunda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388191" y="5927527"/>
            <a:ext cx="22860" cy="371713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21" name="Shape 18"/>
          <p:cNvSpPr/>
          <p:nvPr/>
        </p:nvSpPr>
        <p:spPr>
          <a:xfrm>
            <a:off x="8329970" y="5857875"/>
            <a:ext cx="139303" cy="139303"/>
          </a:xfrm>
          <a:prstGeom prst="roundRect">
            <a:avLst>
              <a:gd name="adj" fmla="val 328205"/>
            </a:avLst>
          </a:prstGeom>
          <a:solidFill>
            <a:srgbClr val="4950BC"/>
          </a:solidFill>
          <a:ln/>
        </p:spPr>
      </p:sp>
      <p:sp>
        <p:nvSpPr>
          <p:cNvPr id="22" name="Text 19"/>
          <p:cNvSpPr/>
          <p:nvPr/>
        </p:nvSpPr>
        <p:spPr>
          <a:xfrm>
            <a:off x="7596068" y="6485215"/>
            <a:ext cx="16072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2018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596068" y="6866811"/>
            <a:ext cx="160722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Hiperinflación extrema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10557391" y="5927527"/>
            <a:ext cx="22860" cy="371713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25" name="Shape 22"/>
          <p:cNvSpPr/>
          <p:nvPr/>
        </p:nvSpPr>
        <p:spPr>
          <a:xfrm>
            <a:off x="10499169" y="5857875"/>
            <a:ext cx="139303" cy="139303"/>
          </a:xfrm>
          <a:prstGeom prst="roundRect">
            <a:avLst>
              <a:gd name="adj" fmla="val 328205"/>
            </a:avLst>
          </a:prstGeom>
          <a:solidFill>
            <a:srgbClr val="4950BC"/>
          </a:solidFill>
          <a:ln/>
        </p:spPr>
      </p:sp>
      <p:sp>
        <p:nvSpPr>
          <p:cNvPr id="26" name="Text 23"/>
          <p:cNvSpPr/>
          <p:nvPr/>
        </p:nvSpPr>
        <p:spPr>
          <a:xfrm>
            <a:off x="9765268" y="6485215"/>
            <a:ext cx="16072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765268" y="6866811"/>
            <a:ext cx="160722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Sanciones internacionales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12726591" y="5927527"/>
            <a:ext cx="22860" cy="371713"/>
          </a:xfrm>
          <a:prstGeom prst="roundRect">
            <a:avLst>
              <a:gd name="adj" fmla="val 341490"/>
            </a:avLst>
          </a:prstGeom>
          <a:solidFill>
            <a:srgbClr val="C0C1D7"/>
          </a:solidFill>
          <a:ln/>
        </p:spPr>
      </p:sp>
      <p:sp>
        <p:nvSpPr>
          <p:cNvPr id="29" name="Shape 26"/>
          <p:cNvSpPr/>
          <p:nvPr/>
        </p:nvSpPr>
        <p:spPr>
          <a:xfrm>
            <a:off x="12668369" y="5857875"/>
            <a:ext cx="139303" cy="139303"/>
          </a:xfrm>
          <a:prstGeom prst="roundRect">
            <a:avLst>
              <a:gd name="adj" fmla="val 328205"/>
            </a:avLst>
          </a:prstGeom>
          <a:solidFill>
            <a:srgbClr val="4950BC"/>
          </a:solidFill>
          <a:ln/>
        </p:spPr>
      </p:sp>
      <p:sp>
        <p:nvSpPr>
          <p:cNvPr id="30" name="Text 27"/>
          <p:cNvSpPr/>
          <p:nvPr/>
        </p:nvSpPr>
        <p:spPr>
          <a:xfrm>
            <a:off x="11934468" y="6485215"/>
            <a:ext cx="16071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2023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934468" y="6866811"/>
            <a:ext cx="160710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Reelección cuestionada</a:t>
            </a:r>
            <a:endParaRPr lang="en-US" sz="145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D11D4A1-5133-608F-88C3-BFE5344E6414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7" y="2332553"/>
            <a:ext cx="6374487" cy="35643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5946" y="1224439"/>
            <a:ext cx="6374487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5CC97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Dolar</a:t>
            </a: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</a:t>
            </a:r>
            <a:r>
              <a:rPr lang="en-US" sz="3900" b="1" dirty="0">
                <a:solidFill>
                  <a:srgbClr val="5CC97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 el bolívar venezolano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65946" y="2645212"/>
            <a:ext cx="6374487" cy="89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DolarToday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un sitio web (creado en 2010) que se hizo famoso por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la tasa de cambio del dólar en el mercado no oficial o “paralelo” del bolívar venezolano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565946" y="3701534"/>
            <a:ext cx="6374487" cy="341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sitio estimaba el valor del bolívar frente al dólar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 en datos del mercado paralelo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incluidas transacciones en zonas fronterizas como Cúcuta (Colombia). 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 que el acceso a dólares oficiales era muy limitado bajo control estatal,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mayoría de venezolanos, comerciantes y empresas tomaban el tipo de cambio del mercado paralelo como referencia realista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gobierno chavista y luego el de Nicolás Maduro criticó y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bloqueó el acceso al sitio dentro de Venezuela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acusándolo de supuestamente afectar la economía y alimentar la “guerra económica”.</a:t>
            </a:r>
            <a:endParaRPr lang="en-US" sz="15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311C32-D2DF-5AEC-1FC0-CD26FD45D5DB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FB74C130-ABA9-20B4-A503-42BE06BF386E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457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939" y="1049774"/>
            <a:ext cx="7838123" cy="116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Social: La Crisis Humanitaria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52939" y="2539246"/>
            <a:ext cx="3823097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8.7M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98389" y="3363158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Emigrantes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2939" y="3746659"/>
            <a:ext cx="3823097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Venezolanos han abandonado el país desde 2015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67845" y="2539246"/>
            <a:ext cx="3823216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86%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13296" y="3363158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Pobreza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67845" y="3746659"/>
            <a:ext cx="3823216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Población vive por debajo del umbral de pobreza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2939" y="4616529"/>
            <a:ext cx="289619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Consecuencias Humanas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2939" y="5061347"/>
            <a:ext cx="3691533" cy="2064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Colapso del sistema de salud y escasez de medicinas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Cortes prolongados de electricidad y agua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Escuelas cerradas por falta de recursos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Violencia y criminalidad generalizada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807148" y="4616529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Regional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07148" y="5061347"/>
            <a:ext cx="3691533" cy="1087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países vecinos (Colombia, Perú, Chile, Ecuador) han recibido millones de migrantes, creando desafíos humanitarios y económicos significativos.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684" y="898803"/>
            <a:ext cx="9642277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La Crisis de Venezuela Cronologia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91684" y="1749385"/>
            <a:ext cx="1244703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exploración cronológica de cómo la riqueza petrolera de Venezuela se convirtió en una de las crisis humanitarias más profundas de América Latina. 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768" y="2989183"/>
            <a:ext cx="1411888" cy="119231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622" y="4458414"/>
            <a:ext cx="1413034" cy="9383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0189" y="2557701"/>
            <a:ext cx="2534245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805" y="2961364"/>
            <a:ext cx="2243415" cy="12618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2110" y="2557701"/>
            <a:ext cx="391834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110" y="2977991"/>
            <a:ext cx="2217876" cy="126185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9072" y="2977991"/>
            <a:ext cx="1245510" cy="126185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768132" y="2557701"/>
            <a:ext cx="2793206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7714" y="2977991"/>
            <a:ext cx="1854041" cy="125861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1091684" y="5644872"/>
            <a:ext cx="12447032" cy="22860"/>
          </a:xfrm>
          <a:prstGeom prst="roundRect">
            <a:avLst>
              <a:gd name="adj" fmla="val 331431"/>
            </a:avLst>
          </a:prstGeom>
          <a:solidFill>
            <a:srgbClr val="C0C1D7"/>
          </a:solidFill>
          <a:ln/>
        </p:spPr>
      </p:sp>
      <p:sp>
        <p:nvSpPr>
          <p:cNvPr id="14" name="Shape 6"/>
          <p:cNvSpPr/>
          <p:nvPr/>
        </p:nvSpPr>
        <p:spPr>
          <a:xfrm>
            <a:off x="2253139" y="5644813"/>
            <a:ext cx="22860" cy="360759"/>
          </a:xfrm>
          <a:prstGeom prst="roundRect">
            <a:avLst>
              <a:gd name="adj" fmla="val 331431"/>
            </a:avLst>
          </a:prstGeom>
          <a:solidFill>
            <a:srgbClr val="C0C1D7"/>
          </a:solidFill>
          <a:ln/>
        </p:spPr>
      </p:sp>
      <p:sp>
        <p:nvSpPr>
          <p:cNvPr id="15" name="Shape 7"/>
          <p:cNvSpPr/>
          <p:nvPr/>
        </p:nvSpPr>
        <p:spPr>
          <a:xfrm>
            <a:off x="2196941" y="5577185"/>
            <a:ext cx="135255" cy="135255"/>
          </a:xfrm>
          <a:prstGeom prst="roundRect">
            <a:avLst>
              <a:gd name="adj" fmla="val 338028"/>
            </a:avLst>
          </a:prstGeom>
          <a:solidFill>
            <a:srgbClr val="4950BC"/>
          </a:solidFill>
          <a:ln/>
        </p:spPr>
      </p:sp>
      <p:sp>
        <p:nvSpPr>
          <p:cNvPr id="16" name="Text 8"/>
          <p:cNvSpPr/>
          <p:nvPr/>
        </p:nvSpPr>
        <p:spPr>
          <a:xfrm>
            <a:off x="1272064" y="6186011"/>
            <a:ext cx="1985129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1908-1930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1272064" y="6553795"/>
            <a:ext cx="1985129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Dictadura y descubrimiento del petróleo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4778454" y="5644813"/>
            <a:ext cx="22860" cy="360759"/>
          </a:xfrm>
          <a:prstGeom prst="roundRect">
            <a:avLst>
              <a:gd name="adj" fmla="val 331431"/>
            </a:avLst>
          </a:prstGeom>
          <a:solidFill>
            <a:srgbClr val="C0C1D7"/>
          </a:solidFill>
          <a:ln/>
        </p:spPr>
      </p:sp>
      <p:sp>
        <p:nvSpPr>
          <p:cNvPr id="19" name="Shape 11"/>
          <p:cNvSpPr/>
          <p:nvPr/>
        </p:nvSpPr>
        <p:spPr>
          <a:xfrm>
            <a:off x="4722257" y="5577185"/>
            <a:ext cx="135255" cy="135255"/>
          </a:xfrm>
          <a:prstGeom prst="roundRect">
            <a:avLst>
              <a:gd name="adj" fmla="val 338028"/>
            </a:avLst>
          </a:prstGeom>
          <a:solidFill>
            <a:srgbClr val="4950BC"/>
          </a:solidFill>
          <a:ln/>
        </p:spPr>
      </p:sp>
      <p:sp>
        <p:nvSpPr>
          <p:cNvPr id="20" name="Text 12"/>
          <p:cNvSpPr/>
          <p:nvPr/>
        </p:nvSpPr>
        <p:spPr>
          <a:xfrm>
            <a:off x="3797260" y="6186011"/>
            <a:ext cx="1985248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1970</a:t>
            </a:r>
            <a:endParaRPr lang="en-US" sz="1750" dirty="0"/>
          </a:p>
        </p:txBody>
      </p:sp>
      <p:sp>
        <p:nvSpPr>
          <p:cNvPr id="21" name="Text 13"/>
          <p:cNvSpPr/>
          <p:nvPr/>
        </p:nvSpPr>
        <p:spPr>
          <a:xfrm>
            <a:off x="3797260" y="6553795"/>
            <a:ext cx="1985248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Bonanza petrolera y dependencia económica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7303651" y="5644813"/>
            <a:ext cx="22860" cy="360759"/>
          </a:xfrm>
          <a:prstGeom prst="roundRect">
            <a:avLst>
              <a:gd name="adj" fmla="val 331431"/>
            </a:avLst>
          </a:prstGeom>
          <a:solidFill>
            <a:srgbClr val="C0C1D7"/>
          </a:solidFill>
          <a:ln/>
        </p:spPr>
      </p:sp>
      <p:sp>
        <p:nvSpPr>
          <p:cNvPr id="23" name="Shape 15"/>
          <p:cNvSpPr/>
          <p:nvPr/>
        </p:nvSpPr>
        <p:spPr>
          <a:xfrm>
            <a:off x="7247453" y="5577185"/>
            <a:ext cx="135255" cy="135255"/>
          </a:xfrm>
          <a:prstGeom prst="roundRect">
            <a:avLst>
              <a:gd name="adj" fmla="val 338028"/>
            </a:avLst>
          </a:prstGeom>
          <a:solidFill>
            <a:srgbClr val="4950BC"/>
          </a:solidFill>
          <a:ln/>
        </p:spPr>
      </p:sp>
      <p:sp>
        <p:nvSpPr>
          <p:cNvPr id="24" name="Text 16"/>
          <p:cNvSpPr/>
          <p:nvPr/>
        </p:nvSpPr>
        <p:spPr>
          <a:xfrm>
            <a:off x="6322576" y="6186011"/>
            <a:ext cx="1985129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1970-1998</a:t>
            </a:r>
            <a:endParaRPr lang="en-US" sz="1750" dirty="0"/>
          </a:p>
        </p:txBody>
      </p:sp>
      <p:sp>
        <p:nvSpPr>
          <p:cNvPr id="25" name="Text 17"/>
          <p:cNvSpPr/>
          <p:nvPr/>
        </p:nvSpPr>
        <p:spPr>
          <a:xfrm>
            <a:off x="6322576" y="6553795"/>
            <a:ext cx="198512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Crisis de deuda y descontento social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9828967" y="5644813"/>
            <a:ext cx="22860" cy="360759"/>
          </a:xfrm>
          <a:prstGeom prst="roundRect">
            <a:avLst>
              <a:gd name="adj" fmla="val 331431"/>
            </a:avLst>
          </a:prstGeom>
          <a:solidFill>
            <a:srgbClr val="C0C1D7"/>
          </a:solidFill>
          <a:ln/>
        </p:spPr>
      </p:sp>
      <p:sp>
        <p:nvSpPr>
          <p:cNvPr id="27" name="Shape 19"/>
          <p:cNvSpPr/>
          <p:nvPr/>
        </p:nvSpPr>
        <p:spPr>
          <a:xfrm>
            <a:off x="9772769" y="5577185"/>
            <a:ext cx="135255" cy="135255"/>
          </a:xfrm>
          <a:prstGeom prst="roundRect">
            <a:avLst>
              <a:gd name="adj" fmla="val 338028"/>
            </a:avLst>
          </a:prstGeom>
          <a:solidFill>
            <a:srgbClr val="4950BC"/>
          </a:solidFill>
          <a:ln/>
        </p:spPr>
      </p:sp>
      <p:sp>
        <p:nvSpPr>
          <p:cNvPr id="28" name="Text 20"/>
          <p:cNvSpPr/>
          <p:nvPr/>
        </p:nvSpPr>
        <p:spPr>
          <a:xfrm>
            <a:off x="8847773" y="6186011"/>
            <a:ext cx="1985248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1998-2013</a:t>
            </a:r>
            <a:endParaRPr lang="en-US" sz="1750" dirty="0"/>
          </a:p>
        </p:txBody>
      </p:sp>
      <p:sp>
        <p:nvSpPr>
          <p:cNvPr id="29" name="Text 21"/>
          <p:cNvSpPr/>
          <p:nvPr/>
        </p:nvSpPr>
        <p:spPr>
          <a:xfrm>
            <a:off x="8847773" y="6553795"/>
            <a:ext cx="198524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Chávez: socialismo y cambios políticos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12354163" y="5644813"/>
            <a:ext cx="22860" cy="360759"/>
          </a:xfrm>
          <a:prstGeom prst="roundRect">
            <a:avLst>
              <a:gd name="adj" fmla="val 331431"/>
            </a:avLst>
          </a:prstGeom>
          <a:solidFill>
            <a:srgbClr val="C0C1D7"/>
          </a:solidFill>
          <a:ln/>
        </p:spPr>
      </p:sp>
      <p:sp>
        <p:nvSpPr>
          <p:cNvPr id="31" name="Shape 23"/>
          <p:cNvSpPr/>
          <p:nvPr/>
        </p:nvSpPr>
        <p:spPr>
          <a:xfrm>
            <a:off x="12297966" y="5577185"/>
            <a:ext cx="135255" cy="135255"/>
          </a:xfrm>
          <a:prstGeom prst="roundRect">
            <a:avLst>
              <a:gd name="adj" fmla="val 338028"/>
            </a:avLst>
          </a:prstGeom>
          <a:solidFill>
            <a:srgbClr val="4950BC"/>
          </a:solidFill>
          <a:ln/>
        </p:spPr>
      </p:sp>
      <p:sp>
        <p:nvSpPr>
          <p:cNvPr id="32" name="Text 24"/>
          <p:cNvSpPr/>
          <p:nvPr/>
        </p:nvSpPr>
        <p:spPr>
          <a:xfrm>
            <a:off x="11373088" y="6186011"/>
            <a:ext cx="1985129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2013-Presente</a:t>
            </a:r>
            <a:endParaRPr lang="en-US" sz="1750" dirty="0"/>
          </a:p>
        </p:txBody>
      </p:sp>
      <p:sp>
        <p:nvSpPr>
          <p:cNvPr id="33" name="Text 25"/>
          <p:cNvSpPr/>
          <p:nvPr/>
        </p:nvSpPr>
        <p:spPr>
          <a:xfrm>
            <a:off x="11373088" y="6553795"/>
            <a:ext cx="198512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Maduro y crisis económica profunda</a:t>
            </a:r>
            <a:endParaRPr lang="en-US" sz="14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FE3341E-9CE5-CBB8-B150-D16528FCBD7B}"/>
              </a:ext>
            </a:extLst>
          </p:cNvPr>
          <p:cNvSpPr/>
          <p:nvPr/>
        </p:nvSpPr>
        <p:spPr>
          <a:xfrm>
            <a:off x="12718473" y="7526797"/>
            <a:ext cx="1843914" cy="64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912</Words>
  <Application>Microsoft Office PowerPoint</Application>
  <PresentationFormat>Personalizado</PresentationFormat>
  <Paragraphs>104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Inter</vt:lpstr>
      <vt:lpstr>Arial</vt:lpstr>
      <vt:lpstr>Inter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Haziel Solano</cp:lastModifiedBy>
  <cp:revision>3</cp:revision>
  <dcterms:created xsi:type="dcterms:W3CDTF">2026-03-26T01:22:03Z</dcterms:created>
  <dcterms:modified xsi:type="dcterms:W3CDTF">2026-03-26T03:24:41Z</dcterms:modified>
</cp:coreProperties>
</file>